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2E7D32"/>
                </a:solidFill>
                <a:latin typeface="Calibri"/>
              </a:rPr>
              <a:t>SG EV TRUCK TCO PROJECT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Interview Findings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C8D2D5"/>
                </a:solidFill>
                <a:latin typeface="Calibri"/>
              </a:rPr>
              <a:t>Field interviews with commercial-vehicle operators, lessors and workshops in Singapore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A8B6BA"/>
                </a:solidFill>
                <a:latin typeface="Calibri"/>
              </a:rPr>
              <a:t>Primary interview: Keith (Goldbell group)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A8B6BA"/>
                </a:solidFill>
                <a:latin typeface="Calibri"/>
              </a:rPr>
              <a:t>Secondary contacts: King Auto · Cosmopolitan · Tritech · Hock Wah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6E6E"/>
                </a:solidFill>
                <a:latin typeface="Calibri"/>
              </a:rPr>
              <a:t>HOW WE RAN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2E35"/>
                </a:solidFill>
                <a:latin typeface="Calibri"/>
              </a:rPr>
              <a:t>Agenda &amp; interview 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5486400" cy="4663440"/>
          </a:xfrm>
          <a:prstGeom prst="rect">
            <a:avLst/>
          </a:prstGeom>
          <a:solidFill>
            <a:srgbClr val="F2F5F6"/>
          </a:solidFill>
          <a:ln w="9525">
            <a:solidFill>
              <a:srgbClr val="D8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5074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800" b="1">
                <a:solidFill>
                  <a:srgbClr val="0F6E6E"/>
                </a:solidFill>
                <a:latin typeface="Calibri"/>
              </a:rPr>
              <a:t>One-hour session structure</a:t>
            </a:r>
          </a:p>
          <a:p>
            <a:pPr lvl="1"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1A2E35"/>
                </a:solidFill>
                <a:latin typeface="Calibri"/>
              </a:rPr>
              <a:t>• Open on the nature of the business and the industry – market overview, SWOT (10–15 min)</a:t>
            </a:r>
          </a:p>
          <a:p>
            <a:pPr lvl="1"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1A2E35"/>
                </a:solidFill>
                <a:latin typeface="Calibri"/>
              </a:rPr>
              <a:t>• Read whether the contact is technical or customer-oriented (~15 min)</a:t>
            </a:r>
          </a:p>
          <a:p>
            <a:pPr lvl="2"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555F63"/>
                </a:solidFill>
                <a:latin typeface="Calibri"/>
              </a:rPr>
              <a:t>– If technical: run the numbers (Aspects 2 &amp; 3)</a:t>
            </a:r>
          </a:p>
          <a:p>
            <a:pPr lvl="2"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555F63"/>
                </a:solidFill>
                <a:latin typeface="Calibri"/>
              </a:rPr>
              <a:t>– If customer-facing: their POV on why an EV truck was bought or leased (Aspect 1)</a:t>
            </a:r>
          </a:p>
          <a:p>
            <a:pPr lvl="1"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1A2E35"/>
                </a:solidFill>
                <a:latin typeface="Calibri"/>
              </a:rPr>
              <a:t>• Work the three aspects, play by ear (~15 min)</a:t>
            </a:r>
          </a:p>
          <a:p>
            <a:pPr lvl="1"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1A2E35"/>
                </a:solidFill>
                <a:latin typeface="Calibri"/>
              </a:rPr>
              <a:t>• Close: confirm how they want to be attributed (~5 min)</a:t>
            </a:r>
          </a:p>
          <a:p>
            <a:pPr lvl="1"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1A2E35"/>
                </a:solidFill>
                <a:latin typeface="Calibri"/>
              </a:rPr>
              <a:t>• Screenshot the meeting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600200"/>
            <a:ext cx="5303520" cy="4663440"/>
          </a:xfrm>
          <a:prstGeom prst="rect">
            <a:avLst/>
          </a:prstGeom>
          <a:solidFill>
            <a:srgbClr val="F2F5F6"/>
          </a:solidFill>
          <a:ln w="9525">
            <a:solidFill>
              <a:srgbClr val="D8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783080"/>
            <a:ext cx="4892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F6E6E"/>
                </a:solidFill>
                <a:latin typeface="Calibri"/>
              </a:rPr>
              <a:t>The three aspects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1A2E35"/>
                </a:solidFill>
                <a:latin typeface="Calibri"/>
              </a:rPr>
              <a:t>1  Purchase economics &amp; the decision to buy</a:t>
            </a:r>
          </a:p>
          <a:p>
            <a:pPr lvl="2"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555F63"/>
                </a:solidFill>
                <a:latin typeface="Calibri"/>
              </a:rPr>
              <a:t>How cost, financing and willingness-to-pay drive the buy/decline decision.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1A2E35"/>
                </a:solidFill>
                <a:latin typeface="Calibri"/>
              </a:rPr>
              <a:t>2  Daily work, vehicle suitability &amp; reliability</a:t>
            </a:r>
          </a:p>
          <a:p>
            <a:pPr lvl="2"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555F63"/>
                </a:solidFill>
                <a:latin typeface="Calibri"/>
              </a:rPr>
              <a:t>Range, durability, depreciation, scrap value and load/access fit.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1A2E35"/>
                </a:solidFill>
                <a:latin typeface="Calibri"/>
              </a:rPr>
              <a:t>3  Charging, site costs &amp; organisational implementation</a:t>
            </a:r>
          </a:p>
          <a:p>
            <a:pPr lvl="2"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555F63"/>
                </a:solidFill>
                <a:latin typeface="Calibri"/>
              </a:rPr>
              <a:t>Installation cost, grid limits, parking, and split ownership of vehicle/driver/premises.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7D32"/>
                </a:solidFill>
                <a:latin typeface="Calibri"/>
              </a:rPr>
              <a:t>PRIMARY INTERVIEW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2E35"/>
                </a:solidFill>
                <a:latin typeface="Calibri"/>
              </a:rPr>
              <a:t>Keith — Goldbell group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11064240" cy="1828800"/>
          </a:xfrm>
          <a:prstGeom prst="rect">
            <a:avLst/>
          </a:prstGeom>
          <a:solidFill>
            <a:srgbClr val="F2F5F6"/>
          </a:solidFill>
          <a:ln w="9525">
            <a:solidFill>
              <a:srgbClr val="D8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32"/>
                </a:solidFill>
                <a:latin typeface="Calibri"/>
              </a:rPr>
              <a:t>Background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A2E35"/>
                </a:solidFill>
                <a:latin typeface="Calibri"/>
              </a:rPr>
              <a:t>• 20 years in the Goldbell group; a large fleet operator of commercial vehicles.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A2E35"/>
                </a:solidFill>
                <a:latin typeface="Calibri"/>
              </a:rPr>
              <a:t>• 18 years in commercial vehicles — sales and distribution, and leasing.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A2E35"/>
                </a:solidFill>
                <a:latin typeface="Calibri"/>
              </a:rPr>
              <a:t>• Current role: automation of forklifts. Some group matters cannot be shared.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57600"/>
            <a:ext cx="11064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0F6E6E"/>
                </a:solidFill>
                <a:latin typeface="Calibri"/>
              </a:rPr>
              <a:t>What the conversation covered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2E35"/>
                </a:solidFill>
                <a:latin typeface="Calibri"/>
              </a:rPr>
              <a:t>• Aspect 1 — purchase economics and the decision to buy or decline EV trucks.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2E35"/>
                </a:solidFill>
                <a:latin typeface="Calibri"/>
              </a:rPr>
              <a:t>• Aspect 2 — daily work, vehicle suitability and reliability.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2E35"/>
                </a:solidFill>
                <a:latin typeface="Calibri"/>
              </a:rPr>
              <a:t>• Aspect 3 — charging, site costs and organisational implementation.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555F63"/>
                </a:solidFill>
                <a:latin typeface="Calibri"/>
              </a:rPr>
              <a:t>Note: answers for Q6, Q7 and Q9 were not captured in the session and are omitted 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6E6E"/>
                </a:solidFill>
                <a:latin typeface="Calibri"/>
              </a:rPr>
              <a:t>ASPECT 1 — PURCHASE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2E35"/>
                </a:solidFill>
                <a:latin typeface="Calibri"/>
              </a:rPr>
              <a:t>Early adoption was too expensive; demand has now arrived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5440680" cy="4663440"/>
          </a:xfrm>
          <a:prstGeom prst="rect">
            <a:avLst/>
          </a:prstGeom>
          <a:solidFill>
            <a:srgbClr val="F2F5F6"/>
          </a:solidFill>
          <a:ln w="9525">
            <a:solidFill>
              <a:srgbClr val="D8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6E6E"/>
                </a:solidFill>
                <a:latin typeface="Calibri"/>
              </a:rPr>
              <a:t>Q1  Why one firm bought EV and another declined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~10 years ago EV was very early adoption; cost was far higher than today.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Government push and industry tech improvement have since lowered cost.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Almost impossible to sell then; would only buy if a customer specifically asked.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Higher cost could be passed into a contract — only those willing to pay would take it.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It created awareness, but challenges outweighed; not worth being a flagship.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600200"/>
            <a:ext cx="5349240" cy="4663440"/>
          </a:xfrm>
          <a:prstGeom prst="rect">
            <a:avLst/>
          </a:prstGeom>
          <a:solidFill>
            <a:srgbClr val="F2F5F6"/>
          </a:solidFill>
          <a:ln w="9525">
            <a:solidFill>
              <a:srgbClr val="D8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F6E6E"/>
                </a:solidFill>
                <a:latin typeface="Calibri"/>
              </a:rPr>
              <a:t>Q2  Keep vs replace a truck with COE remaining</a:t>
            </a:r>
          </a:p>
          <a:p>
            <a:pPr lvl="1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OneMotoring shows the trend in new EV registrations — adoption is rising.</a:t>
            </a:r>
          </a:p>
          <a:p>
            <a:pPr lvl="1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Less resistance now; awareness is high and haze motivates clean energy. Demand IS there.</a:t>
            </a:r>
          </a:p>
          <a:p>
            <a:pPr lvl="1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The real question is supply. Can it meet:</a:t>
            </a:r>
          </a:p>
          <a:p>
            <a:pPr lvl="2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55F63"/>
                </a:solidFill>
                <a:latin typeface="Calibri"/>
              </a:rPr>
              <a:t>– Specifications — mainly light commercial vans; few brands, small model selection.</a:t>
            </a:r>
          </a:p>
          <a:p>
            <a:pPr lvl="2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55F63"/>
                </a:solidFill>
                <a:latin typeface="Calibri"/>
              </a:rPr>
              <a:t>– Operational needs — 14-ft+ HGVs cannot use public car charging lots; drivers must know where charging is; half-a-day downtime is inefficient.</a:t>
            </a:r>
          </a:p>
          <a:p>
            <a:pPr lvl="2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55F63"/>
                </a:solidFill>
                <a:latin typeface="Calibri"/>
              </a:rPr>
              <a:t>– Financial barrier — willingness to pay.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6E6E"/>
                </a:solidFill>
                <a:latin typeface="Calibri"/>
              </a:rPr>
              <a:t>ASPECT 1 — PURCHASE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2E35"/>
                </a:solidFill>
                <a:latin typeface="Calibri"/>
              </a:rPr>
              <a:t>Q3  Full purchase &amp; financing cost vs diesel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5440680" cy="4663440"/>
          </a:xfrm>
          <a:prstGeom prst="rect">
            <a:avLst/>
          </a:prstGeom>
          <a:solidFill>
            <a:srgbClr val="F2F5F6"/>
          </a:solidFill>
          <a:ln w="9525">
            <a:solidFill>
              <a:srgbClr val="D8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6E6E"/>
                </a:solidFill>
                <a:latin typeface="Calibri"/>
              </a:rPr>
              <a:t>Self-sufficiency is a real estate &amp; power problem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Being self-sufficient needs a LOT of charging points at base.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Drivers prefer to take vehicles home, not to base (an employee benefit).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Singapore is small — not enough parking for a base, and not for heavy vehicles.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The building itself needs a modern electrical system to charge multiple heavy-duty vehicles.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Charging at peak hours; public lots are not accommodating for heavy-vehicle charging.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600200"/>
            <a:ext cx="5349240" cy="4663440"/>
          </a:xfrm>
          <a:prstGeom prst="rect">
            <a:avLst/>
          </a:prstGeom>
          <a:solidFill>
            <a:srgbClr val="F2F5F6"/>
          </a:solidFill>
          <a:ln w="9525">
            <a:solidFill>
              <a:srgbClr val="D8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F6E6E"/>
                </a:solidFill>
                <a:latin typeface="Calibri"/>
              </a:rPr>
              <a:t>Vehicle cost &amp; financing</a:t>
            </a:r>
          </a:p>
          <a:p>
            <a:pPr lvl="1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Refrigerated truck is not a differentiator — ~30–40k, about the same as an ICE vehicle.</a:t>
            </a:r>
          </a:p>
          <a:p>
            <a:pPr lvl="1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Cost is probably the same; maybe a slight EV enhancement since the battery powers the fridge, but costs are insignificant.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2E7D32"/>
                </a:solidFill>
                <a:latin typeface="Calibri"/>
              </a:rPr>
              <a:t>Financing</a:t>
            </a:r>
          </a:p>
          <a:p>
            <a:pPr lvl="1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Financing comes from banks.</a:t>
            </a:r>
          </a:p>
          <a:p>
            <a:pPr lvl="1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Smaller firms rely on Hong Seh to link them with banks for hire purchase; big firms have better financing — but everyone pays almost the same rates.</a:t>
            </a:r>
          </a:p>
          <a:p>
            <a:pPr lvl="1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Banks offer “Green financing” (hire purchase, better interest) to every EV buyer — non-differentiated, a bank environmental initiative.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5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56A00"/>
                </a:solidFill>
                <a:latin typeface="Calibri"/>
              </a:rPr>
              <a:t>ASPECT 2 — SUITABILITY &amp;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2E35"/>
                </a:solidFill>
                <a:latin typeface="Calibri"/>
              </a:rPr>
              <a:t>Q4  Durability, scrap value and depreciation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3566160" cy="4663440"/>
          </a:xfrm>
          <a:prstGeom prst="rect">
            <a:avLst/>
          </a:prstGeom>
          <a:solidFill>
            <a:srgbClr val="F2F5F6"/>
          </a:solidFill>
          <a:ln w="9525">
            <a:solidFill>
              <a:srgbClr val="D8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3246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B56A00"/>
                </a:solidFill>
                <a:latin typeface="Calibri"/>
              </a:rPr>
              <a:t>Durability / range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~10 years ago range was 150 km; now ~350 km.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Even in new condition you would seriously consider changing.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EV uptake has been growing for 4–5 years.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600200"/>
            <a:ext cx="3566160" cy="4663440"/>
          </a:xfrm>
          <a:prstGeom prst="rect">
            <a:avLst/>
          </a:prstGeom>
          <a:solidFill>
            <a:srgbClr val="F2F5F6"/>
          </a:solidFill>
          <a:ln w="9525">
            <a:solidFill>
              <a:srgbClr val="D8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783080"/>
            <a:ext cx="3246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B56A00"/>
                </a:solidFill>
                <a:latin typeface="Calibri"/>
              </a:rPr>
              <a:t>Scrapping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Scrapping gives a rebate on the COE balance.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Goldbell EV trucks: very little scrap value.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Disposal cost — value of metal and battery is not high; people still charge to dispose.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Buyers can be quite skeptical.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600200"/>
            <a:ext cx="3566160" cy="4663440"/>
          </a:xfrm>
          <a:prstGeom prst="rect">
            <a:avLst/>
          </a:prstGeom>
          <a:solidFill>
            <a:srgbClr val="F2F5F6"/>
          </a:solidFill>
          <a:ln w="9525">
            <a:solidFill>
              <a:srgbClr val="D8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83080"/>
            <a:ext cx="3246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B56A00"/>
                </a:solidFill>
                <a:latin typeface="Calibri"/>
              </a:rPr>
              <a:t>Depreciation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COE is more expensive now.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An EV bought 4–5 years ago has a carrying value (e.g. 100k) while today's COE is high.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New-EV vs old cost comparison: firms may resist purely because COE is too high.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5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56A00"/>
                </a:solidFill>
                <a:latin typeface="Calibri"/>
              </a:rPr>
              <a:t>ASPECT 2 — SUITABILITY &amp;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2E35"/>
                </a:solidFill>
                <a:latin typeface="Calibri"/>
              </a:rPr>
              <a:t>Q5  Load / body / access fit (and gaps)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6400800" cy="2011680"/>
          </a:xfrm>
          <a:prstGeom prst="rect">
            <a:avLst/>
          </a:prstGeom>
          <a:solidFill>
            <a:srgbClr val="F2F5F6"/>
          </a:solidFill>
          <a:ln w="9525">
            <a:solidFill>
              <a:srgbClr val="D8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989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B56A00"/>
                </a:solidFill>
                <a:latin typeface="Calibri"/>
              </a:rPr>
              <a:t>Q5  What could stop an EV from replacing a diesel truck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2E35"/>
                </a:solidFill>
                <a:latin typeface="Calibri"/>
              </a:rPr>
              <a:t>• “As long as this vehicle is not giving me trouble, we wouldn't want to add on.”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555F63"/>
                </a:solidFill>
                <a:latin typeface="Calibri"/>
              </a:rPr>
              <a:t>• Incumbency bias: a working truck is left alone rather than swapped.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840480"/>
            <a:ext cx="11064240" cy="2194560"/>
          </a:xfrm>
          <a:prstGeom prst="rect">
            <a:avLst/>
          </a:prstGeom>
          <a:solidFill>
            <a:srgbClr val="F7F3EA"/>
          </a:solidFill>
          <a:ln w="9525">
            <a:solidFill>
              <a:srgbClr val="D8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06908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555F63"/>
                </a:solidFill>
                <a:latin typeface="Calibri"/>
              </a:rPr>
              <a:t>Not captured in this interview</a:t>
            </a:r>
          </a:p>
          <a:p>
            <a:pPr lvl="1"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555F63"/>
                </a:solidFill>
                <a:latin typeface="Calibri"/>
              </a:rPr>
              <a:t>• Q6 — loaded EV records on energy use, usable range and battery ageing: no notes captured.</a:t>
            </a:r>
          </a:p>
          <a:p>
            <a:pPr lvl="1"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555F63"/>
                </a:solidFill>
                <a:latin typeface="Calibri"/>
              </a:rPr>
              <a:t>• Q7 — service records on maintenance cost and downtime for comparable EV vs diesel: no notes captured.</a:t>
            </a:r>
          </a:p>
          <a:p>
            <a:pPr lvl="1"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555F63"/>
                </a:solidFill>
                <a:latin typeface="Calibri"/>
              </a:rPr>
              <a:t>These remain open questions for a follow-up with data access.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6E6E"/>
                </a:solidFill>
                <a:latin typeface="Calibri"/>
              </a:rPr>
              <a:t>ASPECT 3 — CHARGING &amp;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2E35"/>
                </a:solidFill>
                <a:latin typeface="Calibri"/>
              </a:rPr>
              <a:t>Q8  Installation cost and the national grid limit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5440680" cy="4663440"/>
          </a:xfrm>
          <a:prstGeom prst="rect">
            <a:avLst/>
          </a:prstGeom>
          <a:solidFill>
            <a:srgbClr val="F2F5F6"/>
          </a:solidFill>
          <a:ln w="9525">
            <a:solidFill>
              <a:srgbClr val="D8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F6E6E"/>
                </a:solidFill>
                <a:latin typeface="Calibri"/>
              </a:rPr>
              <a:t>Parking, power and cost</a:t>
            </a:r>
          </a:p>
          <a:p>
            <a:pPr lvl="1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Private charging operators are VERY tough — getting the land is not easy.</a:t>
            </a:r>
          </a:p>
          <a:p>
            <a:pPr lvl="1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Would rather go back to SP Group and ask them to charge.</a:t>
            </a:r>
          </a:p>
          <a:p>
            <a:pPr lvl="1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The electricity grid cannot support island-wide charging.</a:t>
            </a:r>
          </a:p>
          <a:p>
            <a:pPr lvl="1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About half a million dollars total to install.</a:t>
            </a:r>
          </a:p>
          <a:p>
            <a:pPr lvl="1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Vehicles cannot enter MSCPs — too tall for the 2 m height limit.</a:t>
            </a:r>
          </a:p>
          <a:p>
            <a:pPr lvl="1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Open residential car parks exist, but limit use to residents.</a:t>
            </a:r>
          </a:p>
          <a:p>
            <a:pPr lvl="1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A NATIONAL issue — too many people charging from the grid.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600200"/>
            <a:ext cx="5349240" cy="4663440"/>
          </a:xfrm>
          <a:prstGeom prst="rect">
            <a:avLst/>
          </a:prstGeom>
          <a:solidFill>
            <a:srgbClr val="ECF5EC"/>
          </a:solidFill>
          <a:ln w="9525">
            <a:solidFill>
              <a:srgbClr val="D8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2E7D32"/>
                </a:solidFill>
                <a:latin typeface="Calibri"/>
              </a:rPr>
              <a:t>A workaround: battery swapping (SANY)</a:t>
            </a:r>
          </a:p>
          <a:p>
            <a:pPr lvl="1"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1A2E35"/>
                </a:solidFill>
                <a:latin typeface="Calibri"/>
              </a:rPr>
              <a:t>• SANY offers models with a swap battery — very limited models.</a:t>
            </a:r>
          </a:p>
          <a:p>
            <a:pPr lvl="1"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1A2E35"/>
                </a:solidFill>
                <a:latin typeface="Calibri"/>
              </a:rPr>
              <a:t>• The battery sits behind the cabin and can be swapped.</a:t>
            </a:r>
          </a:p>
          <a:p>
            <a:pPr lvl="1"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1A2E35"/>
                </a:solidFill>
                <a:latin typeface="Calibri"/>
              </a:rPr>
              <a:t>• Aimed at container movers / prime movers.</a:t>
            </a:r>
          </a:p>
          <a:p>
            <a:pPr lvl="1"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1A2E35"/>
                </a:solidFill>
                <a:latin typeface="Calibri"/>
              </a:rPr>
              <a:t>• Can charge while avoiding downtime, via swap stations.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6E6E"/>
                </a:solidFill>
                <a:latin typeface="Calibri"/>
              </a:rPr>
              <a:t>ASPECT 3 — CHARGING &amp;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2E35"/>
                </a:solidFill>
                <a:latin typeface="Calibri"/>
              </a:rPr>
              <a:t>Q10  Split ownership, leasing and the EV-vs-ICE call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5440680" cy="4663440"/>
          </a:xfrm>
          <a:prstGeom prst="rect">
            <a:avLst/>
          </a:prstGeom>
          <a:solidFill>
            <a:srgbClr val="F2F5F6"/>
          </a:solidFill>
          <a:ln w="9525">
            <a:solidFill>
              <a:srgbClr val="D8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6E6E"/>
                </a:solidFill>
                <a:latin typeface="Calibri"/>
              </a:rPr>
              <a:t>Leasing is rare for EV commercial vehicles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Leasing EVs is not so common.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Grab-style lease for prime movers is quite rare — business is unreliable.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Consistency of availability/quality and legal accountability rule these lease services out.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Hybrids are quite rare for commercial vehicles.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600200"/>
            <a:ext cx="5349240" cy="4663440"/>
          </a:xfrm>
          <a:prstGeom prst="rect">
            <a:avLst/>
          </a:prstGeom>
          <a:solidFill>
            <a:srgbClr val="F2F5F6"/>
          </a:solidFill>
          <a:ln w="9525">
            <a:solidFill>
              <a:srgbClr val="D8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F6E6E"/>
                </a:solidFill>
                <a:latin typeface="Calibri"/>
              </a:rPr>
              <a:t>Acceptability is there — EV is preferred over hybrid</a:t>
            </a:r>
          </a:p>
          <a:p>
            <a:pPr lvl="1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Acceptability already exists; it just needs to meet operational requirements.</a:t>
            </a:r>
          </a:p>
          <a:p>
            <a:pPr lvl="1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EVs are low on maintenance and moving parts; between hybrid and EV, choose EV.</a:t>
            </a:r>
          </a:p>
          <a:p>
            <a:pPr lvl="1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ICE disadvantages: battery concerns, engine mechanical issues.</a:t>
            </a:r>
          </a:p>
          <a:p>
            <a:pPr lvl="1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Urban/city driving suits EV better and lasts longer than on highways.</a:t>
            </a:r>
          </a:p>
          <a:p>
            <a:pPr lvl="1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Company decision-makers likely already drive an EV — hence openness to commercial EV.</a:t>
            </a:r>
          </a:p>
          <a:p>
            <a:pPr lvl="1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B56A00"/>
                </a:solidFill>
                <a:latin typeface="Calibri"/>
              </a:rPr>
              <a:t>Open question: did the oil war shift the market — a surge in commercial EV sales/leases, or a “wait it out” industry?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55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55F63"/>
                </a:solidFill>
                <a:latin typeface="Calibri"/>
              </a:rPr>
              <a:t>SECONDARY / SHORT CONTACTS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2E35"/>
                </a:solidFill>
                <a:latin typeface="Calibri"/>
              </a:rPr>
              <a:t>Workshops and a lessor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5440680" cy="4663440"/>
          </a:xfrm>
          <a:prstGeom prst="rect">
            <a:avLst/>
          </a:prstGeom>
          <a:solidFill>
            <a:srgbClr val="F2F5F6"/>
          </a:solidFill>
          <a:ln w="9525">
            <a:solidFill>
              <a:srgbClr val="D8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F6E6E"/>
                </a:solidFill>
                <a:latin typeface="Calibri"/>
              </a:rPr>
              <a:t>King Auto Technologies &amp; Engineering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55F63"/>
                </a:solidFill>
                <a:latin typeface="Calibri"/>
              </a:rPr>
              <a:t>Mr Ong Bee Theng — Lead Engineer</a:t>
            </a:r>
          </a:p>
          <a:p>
            <a:pPr lvl="1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Most customers are relationship-based — they return to the same workshop even after changing vehicle.</a:t>
            </a:r>
          </a:p>
          <a:p>
            <a:pPr lvl="1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Wide ICE knowledge; now upskilling to include EVs.</a:t>
            </a:r>
          </a:p>
          <a:p>
            <a:pPr lvl="1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EV parts are indeed more expensive (newer, fewer sources) with more moving parts than a typical ICE (corroborated by RUSHOWL) — a touchy subject with mixed ICE/EV customers asking why prices differ.</a:t>
            </a:r>
          </a:p>
          <a:p>
            <a:pPr lvl="1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Slow EV-truck adoption — “not so urgent” to switch, no apparent immediate benefit or loss.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600200"/>
            <a:ext cx="5349240" cy="4663440"/>
          </a:xfrm>
          <a:prstGeom prst="rect">
            <a:avLst/>
          </a:prstGeom>
          <a:solidFill>
            <a:srgbClr val="F2F5F6"/>
          </a:solidFill>
          <a:ln w="9525">
            <a:solidFill>
              <a:srgbClr val="D8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6E6E"/>
                </a:solidFill>
                <a:latin typeface="Calibri"/>
              </a:rPr>
              <a:t>Cosmopolitan Engineering Services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55F63"/>
                </a:solidFill>
                <a:latin typeface="Calibri"/>
              </a:rPr>
              <a:t>Mr Ronald Lim — Engineering / Leasing Manager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Very brief — only ~1 minute.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Has no EVs, but clients have asked him to lease EV before — the client was very eco-friendly (also corroborated by RUSHOWL).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Sees no rush to switch; everything should work fine for now.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Mentioned engine reliability — unclear whether he meant ICE or EV is less reliable.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55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55F63"/>
                </a:solidFill>
                <a:latin typeface="Calibri"/>
              </a:rPr>
              <a:t>SECONDARY / SHORT CONTACTS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2E35"/>
                </a:solidFill>
                <a:latin typeface="Calibri"/>
              </a:rPr>
              <a:t>A driver and a workshop 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5440680" cy="4663440"/>
          </a:xfrm>
          <a:prstGeom prst="rect">
            <a:avLst/>
          </a:prstGeom>
          <a:solidFill>
            <a:srgbClr val="F2F5F6"/>
          </a:solidFill>
          <a:ln w="9525">
            <a:solidFill>
              <a:srgbClr val="D8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6E6E"/>
                </a:solidFill>
                <a:latin typeface="Calibri"/>
              </a:rPr>
              <a:t>Tritech Engineering &amp; Testing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55F63"/>
                </a:solidFill>
                <a:latin typeface="Calibri"/>
              </a:rPr>
              <a:t>Mr Muthukumar — Driver (15 months)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Concerned about vehicle weight — EV trucks are heavier than ICE and he thinks it will change how he drives; he will have to adapt.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Told they will likely scrap the current truck at 9 years — no expected scrap returns (heavy use) and they must save for the next truck's purchase price — but it probably would not be an EV.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600200"/>
            <a:ext cx="5349240" cy="4663440"/>
          </a:xfrm>
          <a:prstGeom prst="rect">
            <a:avLst/>
          </a:prstGeom>
          <a:solidFill>
            <a:srgbClr val="ECF5EC"/>
          </a:solidFill>
          <a:ln w="9525">
            <a:solidFill>
              <a:srgbClr val="D8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E7D32"/>
                </a:solidFill>
                <a:latin typeface="Calibri"/>
              </a:rPr>
              <a:t>Hock Wah Motor Workshop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55F63"/>
                </a:solidFill>
                <a:latin typeface="Calibri"/>
              </a:rPr>
              <a:t>Mr Seng Wah — role unclear (manager?)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Thinks EV is the future.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Making sure his mechanics are trained on EVs.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Thinks people will come around, especially with EV subsidies.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2E35"/>
                </a:solidFill>
                <a:latin typeface="Calibri"/>
              </a:rPr>
              <a:t>• People only buy a new truck when they really need to — they reach the workshop when the truck is on its last leg, so pushing a switch NOW does not make sense; instead convince them their NEXT purchase should be EV.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7D32"/>
                </a:solidFill>
                <a:latin typeface="Calibri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Key themes &amp;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1">
                <a:solidFill>
                  <a:srgbClr val="2E7D32"/>
                </a:solidFill>
                <a:latin typeface="Calibri"/>
              </a:rPr>
              <a:t>1. Demand is no longer the blocker — supply and infrastructure are.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D8DFE1"/>
                </a:solidFill>
                <a:latin typeface="Calibri"/>
              </a:rPr>
              <a:t>Awareness is high and haze motivates clean energy; the open questions are model choice, operational fit and willingness to pay.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1">
                <a:solidFill>
                  <a:srgbClr val="2E7D32"/>
                </a:solidFill>
                <a:latin typeface="Calibri"/>
              </a:rPr>
              <a:t>2. Charging is a national, real-estate and grid problem.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D8DFE1"/>
                </a:solidFill>
                <a:latin typeface="Calibri"/>
              </a:rPr>
              <a:t>~half a million to install; MSCP 2 m height locks out trucks; the grid cannot support island-wide charging. Battery swapping (SANY) is an emerging workaround.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1">
                <a:solidFill>
                  <a:srgbClr val="2E7D32"/>
                </a:solidFill>
                <a:latin typeface="Calibri"/>
              </a:rPr>
              <a:t>3. Economics: parity on vehicle, pain on COE, scrap and financing sameness.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D8DFE1"/>
                </a:solidFill>
                <a:latin typeface="Calibri"/>
              </a:rPr>
              <a:t>Refrigerated EV vs ICE cost is roughly the same; weak EV scrap value and high COE deter replacement; “Green financing” is offered to all EV buyers and is non-differentiated.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1">
                <a:solidFill>
                  <a:srgbClr val="2E7D32"/>
                </a:solidFill>
                <a:latin typeface="Calibri"/>
              </a:rPr>
              <a:t>4. EV is preferred over hybrid once operational needs are met — but nobody rushes.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D8DFE1"/>
                </a:solidFill>
                <a:latin typeface="Calibri"/>
              </a:rPr>
              <a:t>Workshops and drivers see no urgency; the practical lever is to win the NEXT purchase, not force a switch today. Leasing EV commercial vehicles remains rare.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